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A73DE6-69F8-4CA8-87B8-2B2645999CCE}">
  <a:tblStyle styleId="{CDA73DE6-69F8-4CA8-87B8-2B2645999C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153520ca6_4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7153520ca6_4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12984f8a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712984f8a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12984f8a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712984f8a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35d6b7fb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635d6b7fb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12984f8a9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712984f8a9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12984f8a9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712984f8a9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11700" y="1335000"/>
            <a:ext cx="8520600" cy="10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 Learning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311700" y="3015575"/>
            <a:ext cx="8520600" cy="13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Group: TLDR; Transfer Learning Did Reproduce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457200" y="5408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Neural Networks</a:t>
            </a:r>
            <a:endParaRPr/>
          </a:p>
        </p:txBody>
      </p:sp>
      <p:sp>
        <p:nvSpPr>
          <p:cNvPr id="136" name="Google Shape;136;p26"/>
          <p:cNvSpPr txBox="1"/>
          <p:nvPr/>
        </p:nvSpPr>
        <p:spPr>
          <a:xfrm>
            <a:off x="161150" y="447292"/>
            <a:ext cx="333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Computationally expensive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1504499" y="1306725"/>
            <a:ext cx="1174800" cy="6858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 txBox="1"/>
          <p:nvPr/>
        </p:nvSpPr>
        <p:spPr>
          <a:xfrm>
            <a:off x="1756538" y="1464975"/>
            <a:ext cx="98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endParaRPr b="1"/>
          </a:p>
        </p:txBody>
      </p:sp>
      <p:sp>
        <p:nvSpPr>
          <p:cNvPr id="139" name="Google Shape;139;p26"/>
          <p:cNvSpPr txBox="1"/>
          <p:nvPr/>
        </p:nvSpPr>
        <p:spPr>
          <a:xfrm>
            <a:off x="4572000" y="1207425"/>
            <a:ext cx="834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⏰</a:t>
            </a:r>
            <a:endParaRPr sz="4100"/>
          </a:p>
        </p:txBody>
      </p:sp>
      <p:sp>
        <p:nvSpPr>
          <p:cNvPr id="140" name="Google Shape;140;p26"/>
          <p:cNvSpPr/>
          <p:nvPr/>
        </p:nvSpPr>
        <p:spPr>
          <a:xfrm>
            <a:off x="1756554" y="828250"/>
            <a:ext cx="140100" cy="422350"/>
          </a:xfrm>
          <a:custGeom>
            <a:rect b="b" l="l" r="r" t="t"/>
            <a:pathLst>
              <a:path extrusionOk="0" h="16894" w="5604">
                <a:moveTo>
                  <a:pt x="1918" y="0"/>
                </a:moveTo>
                <a:cubicBezTo>
                  <a:pt x="1616" y="1106"/>
                  <a:pt x="-495" y="4626"/>
                  <a:pt x="108" y="6637"/>
                </a:cubicBezTo>
                <a:cubicBezTo>
                  <a:pt x="711" y="8648"/>
                  <a:pt x="5035" y="10358"/>
                  <a:pt x="5538" y="12067"/>
                </a:cubicBezTo>
                <a:cubicBezTo>
                  <a:pt x="6041" y="13777"/>
                  <a:pt x="3526" y="16090"/>
                  <a:pt x="3124" y="16894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1" name="Google Shape;141;p26"/>
          <p:cNvSpPr/>
          <p:nvPr/>
        </p:nvSpPr>
        <p:spPr>
          <a:xfrm>
            <a:off x="1944329" y="828250"/>
            <a:ext cx="140100" cy="422350"/>
          </a:xfrm>
          <a:custGeom>
            <a:rect b="b" l="l" r="r" t="t"/>
            <a:pathLst>
              <a:path extrusionOk="0" h="16894" w="5604">
                <a:moveTo>
                  <a:pt x="1918" y="0"/>
                </a:moveTo>
                <a:cubicBezTo>
                  <a:pt x="1616" y="1106"/>
                  <a:pt x="-495" y="4626"/>
                  <a:pt x="108" y="6637"/>
                </a:cubicBezTo>
                <a:cubicBezTo>
                  <a:pt x="711" y="8648"/>
                  <a:pt x="5035" y="10358"/>
                  <a:pt x="5538" y="12067"/>
                </a:cubicBezTo>
                <a:cubicBezTo>
                  <a:pt x="6041" y="13777"/>
                  <a:pt x="3526" y="16090"/>
                  <a:pt x="3124" y="16894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2" name="Google Shape;142;p26"/>
          <p:cNvSpPr/>
          <p:nvPr/>
        </p:nvSpPr>
        <p:spPr>
          <a:xfrm>
            <a:off x="2132104" y="828250"/>
            <a:ext cx="140100" cy="422350"/>
          </a:xfrm>
          <a:custGeom>
            <a:rect b="b" l="l" r="r" t="t"/>
            <a:pathLst>
              <a:path extrusionOk="0" h="16894" w="5604">
                <a:moveTo>
                  <a:pt x="1918" y="0"/>
                </a:moveTo>
                <a:cubicBezTo>
                  <a:pt x="1616" y="1106"/>
                  <a:pt x="-495" y="4626"/>
                  <a:pt x="108" y="6637"/>
                </a:cubicBezTo>
                <a:cubicBezTo>
                  <a:pt x="711" y="8648"/>
                  <a:pt x="5035" y="10358"/>
                  <a:pt x="5538" y="12067"/>
                </a:cubicBezTo>
                <a:cubicBezTo>
                  <a:pt x="6041" y="13777"/>
                  <a:pt x="3526" y="16090"/>
                  <a:pt x="3124" y="16894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43" name="Google Shape;143;p26"/>
          <p:cNvCxnSpPr/>
          <p:nvPr/>
        </p:nvCxnSpPr>
        <p:spPr>
          <a:xfrm rot="10800000">
            <a:off x="1202700" y="1464975"/>
            <a:ext cx="301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26"/>
          <p:cNvCxnSpPr/>
          <p:nvPr/>
        </p:nvCxnSpPr>
        <p:spPr>
          <a:xfrm rot="10800000">
            <a:off x="1202700" y="1649625"/>
            <a:ext cx="301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6"/>
          <p:cNvCxnSpPr/>
          <p:nvPr/>
        </p:nvCxnSpPr>
        <p:spPr>
          <a:xfrm rot="10800000">
            <a:off x="1202700" y="1834275"/>
            <a:ext cx="301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6"/>
          <p:cNvCxnSpPr/>
          <p:nvPr/>
        </p:nvCxnSpPr>
        <p:spPr>
          <a:xfrm rot="10800000">
            <a:off x="2679300" y="1464975"/>
            <a:ext cx="301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6"/>
          <p:cNvCxnSpPr/>
          <p:nvPr/>
        </p:nvCxnSpPr>
        <p:spPr>
          <a:xfrm rot="10800000">
            <a:off x="2679300" y="1649625"/>
            <a:ext cx="301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6"/>
          <p:cNvCxnSpPr/>
          <p:nvPr/>
        </p:nvCxnSpPr>
        <p:spPr>
          <a:xfrm rot="10800000">
            <a:off x="2679300" y="1834275"/>
            <a:ext cx="301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26"/>
          <p:cNvSpPr txBox="1"/>
          <p:nvPr/>
        </p:nvSpPr>
        <p:spPr>
          <a:xfrm>
            <a:off x="6037925" y="458942"/>
            <a:ext cx="333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lots of labelled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3820650" y="458942"/>
            <a:ext cx="333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consuming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/>
          <p:nvPr/>
        </p:nvSpPr>
        <p:spPr>
          <a:xfrm>
            <a:off x="6723525" y="1330025"/>
            <a:ext cx="548700" cy="4116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7429025" y="1330025"/>
            <a:ext cx="548700" cy="4116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6"/>
          <p:cNvSpPr/>
          <p:nvPr/>
        </p:nvSpPr>
        <p:spPr>
          <a:xfrm>
            <a:off x="8134525" y="1330025"/>
            <a:ext cx="548700" cy="4116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457200" y="216604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 Learning Reduces All Three</a:t>
            </a:r>
            <a:endParaRPr/>
          </a:p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26"/>
          <p:cNvSpPr/>
          <p:nvPr/>
        </p:nvSpPr>
        <p:spPr>
          <a:xfrm>
            <a:off x="1082975" y="320967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1082975" y="366687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1734700" y="320567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1082975" y="470027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6"/>
          <p:cNvSpPr/>
          <p:nvPr/>
        </p:nvSpPr>
        <p:spPr>
          <a:xfrm>
            <a:off x="1082975" y="418357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6"/>
          <p:cNvSpPr/>
          <p:nvPr/>
        </p:nvSpPr>
        <p:spPr>
          <a:xfrm>
            <a:off x="2386425" y="450812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2386425" y="351282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2386425" y="401047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6"/>
          <p:cNvSpPr/>
          <p:nvPr/>
        </p:nvSpPr>
        <p:spPr>
          <a:xfrm>
            <a:off x="1734700" y="369462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1734700" y="418357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1734700" y="4696100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/>
          <p:nvPr/>
        </p:nvSpPr>
        <p:spPr>
          <a:xfrm>
            <a:off x="3200725" y="401047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6"/>
          <p:cNvCxnSpPr>
            <a:stCxn id="164" idx="1"/>
            <a:endCxn id="156" idx="6"/>
          </p:cNvCxnSpPr>
          <p:nvPr/>
        </p:nvCxnSpPr>
        <p:spPr>
          <a:xfrm rot="10800000">
            <a:off x="1475022" y="3394408"/>
            <a:ext cx="317100" cy="35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6"/>
          <p:cNvCxnSpPr>
            <a:stCxn id="157" idx="6"/>
            <a:endCxn id="158" idx="3"/>
          </p:cNvCxnSpPr>
          <p:nvPr/>
        </p:nvCxnSpPr>
        <p:spPr>
          <a:xfrm flipH="1" rot="10800000">
            <a:off x="1475075" y="3520925"/>
            <a:ext cx="317100" cy="330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6"/>
          <p:cNvCxnSpPr>
            <a:endCxn id="165" idx="2"/>
          </p:cNvCxnSpPr>
          <p:nvPr/>
        </p:nvCxnSpPr>
        <p:spPr>
          <a:xfrm>
            <a:off x="1475200" y="4368225"/>
            <a:ext cx="25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6"/>
          <p:cNvCxnSpPr>
            <a:stCxn id="165" idx="1"/>
          </p:cNvCxnSpPr>
          <p:nvPr/>
        </p:nvCxnSpPr>
        <p:spPr>
          <a:xfrm rot="10800000">
            <a:off x="1475022" y="3897158"/>
            <a:ext cx="317100" cy="34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6"/>
          <p:cNvCxnSpPr>
            <a:stCxn id="163" idx="1"/>
            <a:endCxn id="158" idx="6"/>
          </p:cNvCxnSpPr>
          <p:nvPr/>
        </p:nvCxnSpPr>
        <p:spPr>
          <a:xfrm rot="10800000">
            <a:off x="2126747" y="3390458"/>
            <a:ext cx="317100" cy="67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6"/>
          <p:cNvCxnSpPr>
            <a:stCxn id="166" idx="1"/>
          </p:cNvCxnSpPr>
          <p:nvPr/>
        </p:nvCxnSpPr>
        <p:spPr>
          <a:xfrm rot="10800000">
            <a:off x="1475022" y="4427683"/>
            <a:ext cx="317100" cy="32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6"/>
          <p:cNvCxnSpPr/>
          <p:nvPr/>
        </p:nvCxnSpPr>
        <p:spPr>
          <a:xfrm>
            <a:off x="1475200" y="3404900"/>
            <a:ext cx="25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6"/>
          <p:cNvCxnSpPr/>
          <p:nvPr/>
        </p:nvCxnSpPr>
        <p:spPr>
          <a:xfrm>
            <a:off x="1475200" y="3879275"/>
            <a:ext cx="25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6"/>
          <p:cNvCxnSpPr/>
          <p:nvPr/>
        </p:nvCxnSpPr>
        <p:spPr>
          <a:xfrm>
            <a:off x="1475200" y="4884925"/>
            <a:ext cx="25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6"/>
          <p:cNvCxnSpPr/>
          <p:nvPr/>
        </p:nvCxnSpPr>
        <p:spPr>
          <a:xfrm flipH="1" rot="10800000">
            <a:off x="1475025" y="3988175"/>
            <a:ext cx="317100" cy="330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6"/>
          <p:cNvCxnSpPr>
            <a:endCxn id="158" idx="3"/>
          </p:cNvCxnSpPr>
          <p:nvPr/>
        </p:nvCxnSpPr>
        <p:spPr>
          <a:xfrm flipH="1" rot="10800000">
            <a:off x="1475022" y="3520892"/>
            <a:ext cx="317100" cy="79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6"/>
          <p:cNvCxnSpPr>
            <a:endCxn id="165" idx="3"/>
          </p:cNvCxnSpPr>
          <p:nvPr/>
        </p:nvCxnSpPr>
        <p:spPr>
          <a:xfrm flipH="1" rot="10800000">
            <a:off x="1475022" y="4498792"/>
            <a:ext cx="317100" cy="36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6"/>
          <p:cNvCxnSpPr>
            <a:endCxn id="162" idx="3"/>
          </p:cNvCxnSpPr>
          <p:nvPr/>
        </p:nvCxnSpPr>
        <p:spPr>
          <a:xfrm flipH="1" rot="10800000">
            <a:off x="2126747" y="3828042"/>
            <a:ext cx="317100" cy="49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6"/>
          <p:cNvCxnSpPr/>
          <p:nvPr/>
        </p:nvCxnSpPr>
        <p:spPr>
          <a:xfrm flipH="1" rot="10800000">
            <a:off x="2126747" y="4343517"/>
            <a:ext cx="317100" cy="49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6"/>
          <p:cNvCxnSpPr>
            <a:endCxn id="164" idx="6"/>
          </p:cNvCxnSpPr>
          <p:nvPr/>
        </p:nvCxnSpPr>
        <p:spPr>
          <a:xfrm rot="10800000">
            <a:off x="2126800" y="3879275"/>
            <a:ext cx="317100" cy="71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6"/>
          <p:cNvCxnSpPr>
            <a:stCxn id="166" idx="6"/>
            <a:endCxn id="162" idx="3"/>
          </p:cNvCxnSpPr>
          <p:nvPr/>
        </p:nvCxnSpPr>
        <p:spPr>
          <a:xfrm flipH="1" rot="10800000">
            <a:off x="2126800" y="3828050"/>
            <a:ext cx="317100" cy="105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6"/>
          <p:cNvCxnSpPr>
            <a:stCxn id="163" idx="1"/>
          </p:cNvCxnSpPr>
          <p:nvPr/>
        </p:nvCxnSpPr>
        <p:spPr>
          <a:xfrm rot="10800000">
            <a:off x="2130347" y="3881858"/>
            <a:ext cx="313500" cy="18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6"/>
          <p:cNvCxnSpPr>
            <a:stCxn id="167" idx="2"/>
            <a:endCxn id="161" idx="6"/>
          </p:cNvCxnSpPr>
          <p:nvPr/>
        </p:nvCxnSpPr>
        <p:spPr>
          <a:xfrm flipH="1">
            <a:off x="2778625" y="4195125"/>
            <a:ext cx="422100" cy="49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6"/>
          <p:cNvCxnSpPr>
            <a:stCxn id="167" idx="2"/>
          </p:cNvCxnSpPr>
          <p:nvPr/>
        </p:nvCxnSpPr>
        <p:spPr>
          <a:xfrm flipH="1">
            <a:off x="2778625" y="4195125"/>
            <a:ext cx="422100" cy="2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6"/>
          <p:cNvCxnSpPr>
            <a:stCxn id="167" idx="2"/>
          </p:cNvCxnSpPr>
          <p:nvPr/>
        </p:nvCxnSpPr>
        <p:spPr>
          <a:xfrm rot="10800000">
            <a:off x="2778325" y="3710925"/>
            <a:ext cx="422400" cy="4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6"/>
          <p:cNvCxnSpPr>
            <a:endCxn id="162" idx="2"/>
          </p:cNvCxnSpPr>
          <p:nvPr/>
        </p:nvCxnSpPr>
        <p:spPr>
          <a:xfrm flipH="1" rot="10800000">
            <a:off x="2126625" y="3697475"/>
            <a:ext cx="259800" cy="16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6"/>
          <p:cNvSpPr txBox="1"/>
          <p:nvPr/>
        </p:nvSpPr>
        <p:spPr>
          <a:xfrm>
            <a:off x="536700" y="2667067"/>
            <a:ext cx="333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Pretrained Network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5624675" y="322552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5624675" y="368272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6276400" y="322152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5624675" y="471612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5624675" y="419942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6928125" y="452397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6928125" y="352867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6928125" y="402632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6276400" y="371047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6276400" y="419942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6276400" y="4711950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7742425" y="4026325"/>
            <a:ext cx="392100" cy="369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26"/>
          <p:cNvCxnSpPr>
            <a:stCxn id="198" idx="1"/>
            <a:endCxn id="190" idx="6"/>
          </p:cNvCxnSpPr>
          <p:nvPr/>
        </p:nvCxnSpPr>
        <p:spPr>
          <a:xfrm rot="10800000">
            <a:off x="6016722" y="3410258"/>
            <a:ext cx="317100" cy="35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6"/>
          <p:cNvCxnSpPr>
            <a:stCxn id="191" idx="6"/>
            <a:endCxn id="192" idx="3"/>
          </p:cNvCxnSpPr>
          <p:nvPr/>
        </p:nvCxnSpPr>
        <p:spPr>
          <a:xfrm flipH="1" rot="10800000">
            <a:off x="6016775" y="3536775"/>
            <a:ext cx="317100" cy="330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6"/>
          <p:cNvCxnSpPr>
            <a:endCxn id="199" idx="2"/>
          </p:cNvCxnSpPr>
          <p:nvPr/>
        </p:nvCxnSpPr>
        <p:spPr>
          <a:xfrm>
            <a:off x="6016900" y="4384075"/>
            <a:ext cx="25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6"/>
          <p:cNvCxnSpPr>
            <a:stCxn id="199" idx="1"/>
          </p:cNvCxnSpPr>
          <p:nvPr/>
        </p:nvCxnSpPr>
        <p:spPr>
          <a:xfrm rot="10800000">
            <a:off x="6016722" y="3913008"/>
            <a:ext cx="317100" cy="34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6"/>
          <p:cNvCxnSpPr>
            <a:stCxn id="197" idx="1"/>
            <a:endCxn id="192" idx="6"/>
          </p:cNvCxnSpPr>
          <p:nvPr/>
        </p:nvCxnSpPr>
        <p:spPr>
          <a:xfrm rot="10800000">
            <a:off x="6668447" y="3406308"/>
            <a:ext cx="317100" cy="67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6"/>
          <p:cNvCxnSpPr>
            <a:stCxn id="200" idx="1"/>
          </p:cNvCxnSpPr>
          <p:nvPr/>
        </p:nvCxnSpPr>
        <p:spPr>
          <a:xfrm rot="10800000">
            <a:off x="6016722" y="4443533"/>
            <a:ext cx="317100" cy="32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6"/>
          <p:cNvCxnSpPr/>
          <p:nvPr/>
        </p:nvCxnSpPr>
        <p:spPr>
          <a:xfrm>
            <a:off x="6016900" y="3420750"/>
            <a:ext cx="25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26"/>
          <p:cNvCxnSpPr/>
          <p:nvPr/>
        </p:nvCxnSpPr>
        <p:spPr>
          <a:xfrm>
            <a:off x="6016900" y="3895125"/>
            <a:ext cx="25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6"/>
          <p:cNvCxnSpPr/>
          <p:nvPr/>
        </p:nvCxnSpPr>
        <p:spPr>
          <a:xfrm>
            <a:off x="6016900" y="4900775"/>
            <a:ext cx="25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6"/>
          <p:cNvCxnSpPr/>
          <p:nvPr/>
        </p:nvCxnSpPr>
        <p:spPr>
          <a:xfrm flipH="1" rot="10800000">
            <a:off x="6016725" y="4004025"/>
            <a:ext cx="317100" cy="330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6"/>
          <p:cNvCxnSpPr>
            <a:endCxn id="192" idx="3"/>
          </p:cNvCxnSpPr>
          <p:nvPr/>
        </p:nvCxnSpPr>
        <p:spPr>
          <a:xfrm flipH="1" rot="10800000">
            <a:off x="6016722" y="3536742"/>
            <a:ext cx="317100" cy="79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6"/>
          <p:cNvCxnSpPr>
            <a:endCxn id="199" idx="3"/>
          </p:cNvCxnSpPr>
          <p:nvPr/>
        </p:nvCxnSpPr>
        <p:spPr>
          <a:xfrm flipH="1" rot="10800000">
            <a:off x="6016722" y="4514642"/>
            <a:ext cx="317100" cy="36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6"/>
          <p:cNvCxnSpPr>
            <a:endCxn id="196" idx="3"/>
          </p:cNvCxnSpPr>
          <p:nvPr/>
        </p:nvCxnSpPr>
        <p:spPr>
          <a:xfrm flipH="1" rot="10800000">
            <a:off x="6668447" y="3843892"/>
            <a:ext cx="317100" cy="49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6"/>
          <p:cNvCxnSpPr/>
          <p:nvPr/>
        </p:nvCxnSpPr>
        <p:spPr>
          <a:xfrm flipH="1" rot="10800000">
            <a:off x="6668447" y="4359367"/>
            <a:ext cx="317100" cy="49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6"/>
          <p:cNvCxnSpPr>
            <a:endCxn id="198" idx="6"/>
          </p:cNvCxnSpPr>
          <p:nvPr/>
        </p:nvCxnSpPr>
        <p:spPr>
          <a:xfrm rot="10800000">
            <a:off x="6668500" y="3895125"/>
            <a:ext cx="317100" cy="71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6"/>
          <p:cNvCxnSpPr>
            <a:stCxn id="200" idx="6"/>
            <a:endCxn id="196" idx="3"/>
          </p:cNvCxnSpPr>
          <p:nvPr/>
        </p:nvCxnSpPr>
        <p:spPr>
          <a:xfrm flipH="1" rot="10800000">
            <a:off x="6668500" y="3843900"/>
            <a:ext cx="317100" cy="105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6"/>
          <p:cNvCxnSpPr>
            <a:stCxn id="197" idx="1"/>
          </p:cNvCxnSpPr>
          <p:nvPr/>
        </p:nvCxnSpPr>
        <p:spPr>
          <a:xfrm rot="10800000">
            <a:off x="6672047" y="3897708"/>
            <a:ext cx="313500" cy="18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6"/>
          <p:cNvCxnSpPr>
            <a:stCxn id="201" idx="2"/>
            <a:endCxn id="195" idx="6"/>
          </p:cNvCxnSpPr>
          <p:nvPr/>
        </p:nvCxnSpPr>
        <p:spPr>
          <a:xfrm flipH="1">
            <a:off x="7320325" y="4210975"/>
            <a:ext cx="422100" cy="497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6"/>
          <p:cNvCxnSpPr>
            <a:stCxn id="201" idx="2"/>
          </p:cNvCxnSpPr>
          <p:nvPr/>
        </p:nvCxnSpPr>
        <p:spPr>
          <a:xfrm flipH="1">
            <a:off x="7320325" y="4210975"/>
            <a:ext cx="422100" cy="27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6"/>
          <p:cNvCxnSpPr>
            <a:stCxn id="201" idx="2"/>
          </p:cNvCxnSpPr>
          <p:nvPr/>
        </p:nvCxnSpPr>
        <p:spPr>
          <a:xfrm rot="10800000">
            <a:off x="7320025" y="3726775"/>
            <a:ext cx="422400" cy="484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6"/>
          <p:cNvCxnSpPr>
            <a:endCxn id="196" idx="2"/>
          </p:cNvCxnSpPr>
          <p:nvPr/>
        </p:nvCxnSpPr>
        <p:spPr>
          <a:xfrm flipH="1" rot="10800000">
            <a:off x="6668325" y="3713325"/>
            <a:ext cx="259800" cy="16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6"/>
          <p:cNvSpPr txBox="1"/>
          <p:nvPr/>
        </p:nvSpPr>
        <p:spPr>
          <a:xfrm>
            <a:off x="5063325" y="2770730"/>
            <a:ext cx="333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Retrain subset of params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4036513" y="3891875"/>
            <a:ext cx="981900" cy="52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3235800" y="3251997"/>
            <a:ext cx="235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 network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type="title"/>
          </p:nvPr>
        </p:nvSpPr>
        <p:spPr>
          <a:xfrm>
            <a:off x="311700" y="99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the performance of transfer learning depend on domain similarity?</a:t>
            </a:r>
            <a:endParaRPr/>
          </a:p>
        </p:txBody>
      </p:sp>
      <p:sp>
        <p:nvSpPr>
          <p:cNvPr id="231" name="Google Shape;231;p27"/>
          <p:cNvSpPr txBox="1"/>
          <p:nvPr>
            <p:ph idx="1" type="body"/>
          </p:nvPr>
        </p:nvSpPr>
        <p:spPr>
          <a:xfrm>
            <a:off x="311700" y="1123700"/>
            <a:ext cx="3877200" cy="3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</a:t>
            </a:r>
            <a:r>
              <a:rPr lang="en"/>
              <a:t>: </a:t>
            </a:r>
            <a:br>
              <a:rPr lang="en"/>
            </a:br>
            <a:r>
              <a:rPr lang="en"/>
              <a:t>AlexNet pretrained on Imagenet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Datasets: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MNIST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CIFAR10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GTZAN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Audio clips from 10 music genres </a:t>
            </a:r>
            <a:endParaRPr/>
          </a:p>
        </p:txBody>
      </p:sp>
      <p:sp>
        <p:nvSpPr>
          <p:cNvPr id="232" name="Google Shape;232;p27"/>
          <p:cNvSpPr txBox="1"/>
          <p:nvPr/>
        </p:nvSpPr>
        <p:spPr>
          <a:xfrm>
            <a:off x="4310900" y="1144025"/>
            <a:ext cx="43689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3" name="Google Shape;233;p27" title="alexnet_train_test_accuracy_all_datasets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1500" y="902075"/>
            <a:ext cx="3877200" cy="38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/>
          <p:nvPr>
            <p:ph type="title"/>
          </p:nvPr>
        </p:nvSpPr>
        <p:spPr>
          <a:xfrm>
            <a:off x="388525" y="208900"/>
            <a:ext cx="85791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transfer learning affect computation time &amp; data needs?</a:t>
            </a:r>
            <a:endParaRPr/>
          </a:p>
        </p:txBody>
      </p:sp>
      <p:sp>
        <p:nvSpPr>
          <p:cNvPr id="240" name="Google Shape;240;p28"/>
          <p:cNvSpPr txBox="1"/>
          <p:nvPr/>
        </p:nvSpPr>
        <p:spPr>
          <a:xfrm>
            <a:off x="450100" y="1190900"/>
            <a:ext cx="72804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Model: </a:t>
            </a:r>
            <a:r>
              <a:rPr b="1" lang="en" sz="1200">
                <a:solidFill>
                  <a:schemeClr val="dk2"/>
                </a:solidFill>
              </a:rPr>
              <a:t>ResNet-50 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Pretraining on dataset (120 epochs) : </a:t>
            </a:r>
            <a:r>
              <a:rPr b="1" lang="en" sz="1200">
                <a:solidFill>
                  <a:schemeClr val="dk2"/>
                </a:solidFill>
              </a:rPr>
              <a:t>CIFAR-100</a:t>
            </a:r>
            <a:r>
              <a:rPr lang="en" sz="1200">
                <a:solidFill>
                  <a:schemeClr val="dk2"/>
                </a:solidFill>
              </a:rPr>
              <a:t> 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Target dataset: </a:t>
            </a:r>
            <a:r>
              <a:rPr b="1" lang="en" sz="1200">
                <a:solidFill>
                  <a:schemeClr val="dk2"/>
                </a:solidFill>
              </a:rPr>
              <a:t>CIFAR-10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41" name="Google Shape;24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2" name="Google Shape;242;p28" title="epochs comparison fig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100" y="2227825"/>
            <a:ext cx="3804085" cy="285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8" title="data regime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8350" y="2179400"/>
            <a:ext cx="3804093" cy="28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/>
          <p:nvPr>
            <p:ph type="title"/>
          </p:nvPr>
        </p:nvSpPr>
        <p:spPr>
          <a:xfrm>
            <a:off x="289125" y="83875"/>
            <a:ext cx="8520600" cy="9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Compact Model Achieve Performance Comparable To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Model</a:t>
            </a:r>
            <a:endParaRPr/>
          </a:p>
        </p:txBody>
      </p:sp>
      <p:sp>
        <p:nvSpPr>
          <p:cNvPr id="249" name="Google Shape;249;p29"/>
          <p:cNvSpPr txBox="1"/>
          <p:nvPr>
            <p:ph idx="1" type="body"/>
          </p:nvPr>
        </p:nvSpPr>
        <p:spPr>
          <a:xfrm>
            <a:off x="311700" y="1134325"/>
            <a:ext cx="8520600" cy="25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Model</a:t>
            </a:r>
            <a:r>
              <a:rPr lang="en" sz="1400"/>
              <a:t>: </a:t>
            </a:r>
            <a:r>
              <a:rPr b="1" lang="en" sz="1400"/>
              <a:t>Shuffle_Net 							     </a:t>
            </a:r>
            <a:r>
              <a:rPr lang="en" sz="1400"/>
              <a:t>Parameter Count</a:t>
            </a:r>
            <a:r>
              <a:rPr b="1" lang="en" sz="1400"/>
              <a:t>	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Source Dataset:</a:t>
            </a:r>
            <a:r>
              <a:rPr lang="en" sz="1400"/>
              <a:t> </a:t>
            </a:r>
            <a:r>
              <a:rPr b="1" lang="en" sz="1400"/>
              <a:t>ImageNet								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Target </a:t>
            </a:r>
            <a:r>
              <a:rPr lang="en" sz="1400"/>
              <a:t>Dataset: 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CIFAR10</a:t>
            </a:r>
            <a:r>
              <a:rPr lang="en" sz="1400"/>
              <a:t>, images, 10 classes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1" name="Google Shape;25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25" y="2769925"/>
            <a:ext cx="4173249" cy="211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4600" y="2858200"/>
            <a:ext cx="3550124" cy="2029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3" name="Google Shape;253;p29"/>
          <p:cNvGraphicFramePr/>
          <p:nvPr/>
        </p:nvGraphicFramePr>
        <p:xfrm>
          <a:off x="5012400" y="151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{CDA73DE6-69F8-4CA8-87B8-2B2645999CCE}</a:tableStyleId>
              </a:tblPr>
              <a:tblGrid>
                <a:gridCol w="853425"/>
                <a:gridCol w="902075"/>
              </a:tblGrid>
              <a:tr h="27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Alex_Net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61 m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Res_Net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25.6 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Shuffle_Net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2.3 m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Does transfer learning lead to more robust (consistent) predictions?</a:t>
            </a:r>
            <a:endParaRPr sz="2020"/>
          </a:p>
        </p:txBody>
      </p:sp>
      <p:sp>
        <p:nvSpPr>
          <p:cNvPr id="259" name="Google Shape;259;p30"/>
          <p:cNvSpPr txBox="1"/>
          <p:nvPr>
            <p:ph idx="1" type="body"/>
          </p:nvPr>
        </p:nvSpPr>
        <p:spPr>
          <a:xfrm>
            <a:off x="0" y="919200"/>
            <a:ext cx="4278600" cy="33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297656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b="1" lang="en" sz="1200">
                <a:solidFill>
                  <a:schemeClr val="dk1"/>
                </a:solidFill>
              </a:rPr>
              <a:t>Model</a:t>
            </a:r>
            <a:r>
              <a:rPr lang="en" sz="1087">
                <a:solidFill>
                  <a:schemeClr val="dk1"/>
                </a:solidFill>
              </a:rPr>
              <a:t>: ResNet (Transfer Learning, Scratch)</a:t>
            </a:r>
            <a:endParaRPr sz="1087">
              <a:solidFill>
                <a:schemeClr val="dk1"/>
              </a:solidFill>
            </a:endParaRPr>
          </a:p>
          <a:p>
            <a:pPr indent="-29765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b="1" lang="en" sz="1200">
                <a:solidFill>
                  <a:schemeClr val="dk1"/>
                </a:solidFill>
              </a:rPr>
              <a:t>Data</a:t>
            </a:r>
            <a:r>
              <a:rPr lang="en" sz="1087">
                <a:solidFill>
                  <a:schemeClr val="dk1"/>
                </a:solidFill>
              </a:rPr>
              <a:t>: CIFAR-10</a:t>
            </a:r>
            <a:endParaRPr sz="1087">
              <a:solidFill>
                <a:schemeClr val="dk1"/>
              </a:solidFill>
            </a:endParaRPr>
          </a:p>
          <a:p>
            <a:pPr indent="-29765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b="1" lang="en" sz="1200">
                <a:solidFill>
                  <a:schemeClr val="dk1"/>
                </a:solidFill>
              </a:rPr>
              <a:t>Tests</a:t>
            </a:r>
            <a:r>
              <a:rPr lang="en" sz="1087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chemeClr val="dk1"/>
                </a:solidFill>
              </a:rPr>
              <a:t>Clean, Noisy (Gaussian)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37">
                <a:solidFill>
                  <a:schemeClr val="dk1"/>
                </a:solidFill>
              </a:rPr>
              <a:t>🔹</a:t>
            </a:r>
            <a:r>
              <a:rPr b="1" lang="en" sz="1237">
                <a:solidFill>
                  <a:schemeClr val="dk1"/>
                </a:solidFill>
              </a:rPr>
              <a:t> Transfer Learning:</a:t>
            </a:r>
            <a:endParaRPr b="1" sz="1237">
              <a:solidFill>
                <a:schemeClr val="dk1"/>
              </a:solidFill>
            </a:endParaRPr>
          </a:p>
          <a:p>
            <a:pPr indent="-300831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38"/>
              <a:buChar char="●"/>
            </a:pPr>
            <a:r>
              <a:rPr lang="en" sz="1137">
                <a:solidFill>
                  <a:schemeClr val="dk1"/>
                </a:solidFill>
              </a:rPr>
              <a:t>Best on clean data</a:t>
            </a:r>
            <a:endParaRPr sz="1137">
              <a:solidFill>
                <a:schemeClr val="dk1"/>
              </a:solidFill>
            </a:endParaRPr>
          </a:p>
          <a:p>
            <a:pPr indent="-30083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Char char="●"/>
            </a:pPr>
            <a:r>
              <a:rPr lang="en" sz="1137">
                <a:solidFill>
                  <a:schemeClr val="dk1"/>
                </a:solidFill>
              </a:rPr>
              <a:t>Benefits from longer training</a:t>
            </a:r>
            <a:endParaRPr sz="113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337">
                <a:solidFill>
                  <a:schemeClr val="dk1"/>
                </a:solidFill>
              </a:rPr>
              <a:t>🔹</a:t>
            </a:r>
            <a:r>
              <a:rPr b="1" lang="en" sz="1237">
                <a:solidFill>
                  <a:schemeClr val="dk1"/>
                </a:solidFill>
              </a:rPr>
              <a:t> Scratch Training:</a:t>
            </a:r>
            <a:endParaRPr b="1" sz="1237">
              <a:solidFill>
                <a:schemeClr val="dk1"/>
              </a:solidFill>
            </a:endParaRPr>
          </a:p>
          <a:p>
            <a:pPr indent="-300831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38"/>
              <a:buChar char="●"/>
            </a:pPr>
            <a:r>
              <a:rPr lang="en" sz="1137">
                <a:solidFill>
                  <a:schemeClr val="dk1"/>
                </a:solidFill>
              </a:rPr>
              <a:t>Stronger on noisy data with dropout</a:t>
            </a:r>
            <a:endParaRPr sz="1137">
              <a:solidFill>
                <a:schemeClr val="dk1"/>
              </a:solidFill>
            </a:endParaRPr>
          </a:p>
          <a:p>
            <a:pPr indent="-30083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Char char="●"/>
            </a:pPr>
            <a:r>
              <a:rPr lang="en" sz="1137">
                <a:solidFill>
                  <a:schemeClr val="dk1"/>
                </a:solidFill>
              </a:rPr>
              <a:t>Dropout boosts noisy accuracy   (peak: 41.02%)</a:t>
            </a:r>
            <a:endParaRPr sz="113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237">
                <a:solidFill>
                  <a:schemeClr val="dk1"/>
                </a:solidFill>
              </a:rPr>
              <a:t>🔹 Scheduler:</a:t>
            </a:r>
            <a:endParaRPr b="1" sz="1237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Stabilizes training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Less effective than dropout</a:t>
            </a:r>
            <a:endParaRPr sz="1100"/>
          </a:p>
        </p:txBody>
      </p:sp>
      <p:sp>
        <p:nvSpPr>
          <p:cNvPr id="260" name="Google Shape;26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1" name="Google Shape;261;p30" title="Untit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375" y="798150"/>
            <a:ext cx="4788775" cy="4121851"/>
          </a:xfrm>
          <a:prstGeom prst="rect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67" name="Google Shape;267;p31"/>
          <p:cNvSpPr txBox="1"/>
          <p:nvPr>
            <p:ph idx="1" type="body"/>
          </p:nvPr>
        </p:nvSpPr>
        <p:spPr>
          <a:xfrm>
            <a:off x="311700" y="1378725"/>
            <a:ext cx="8318400" cy="33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Efficacy of TL depends on domain similarity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TL reduces computational resources and amount of data required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Compact models </a:t>
            </a:r>
            <a:r>
              <a:rPr lang="en" sz="2200"/>
              <a:t>performs</a:t>
            </a:r>
            <a:r>
              <a:rPr lang="en" sz="2200"/>
              <a:t> on par with complex </a:t>
            </a:r>
            <a:r>
              <a:rPr lang="en" sz="2200"/>
              <a:t>models</a:t>
            </a:r>
            <a:r>
              <a:rPr lang="en" sz="2200"/>
              <a:t> in TL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TL did not produce more robust predictions in our configuration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268" name="Google Shape;26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